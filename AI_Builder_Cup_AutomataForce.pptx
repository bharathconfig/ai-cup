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02124"/>
                </a:solidFill>
                <a:latin typeface="Arial"/>
              </a:defRPr>
            </a:pPr>
            <a:r>
              <a:t>Team Name:  </a:t>
            </a:r>
            <a:r>
              <a:rPr b="1">
                <a:solidFill>
                  <a:srgbClr val="1A73E8"/>
                </a:solidFill>
              </a:rPr>
              <a:t>AutomataForce</a:t>
            </a:r>
          </a:p>
          <a:p>
            <a:pPr>
              <a:spcBef>
                <a:spcPts val="800"/>
              </a:spcBef>
              <a:defRPr sz="2000" b="1">
                <a:solidFill>
                  <a:srgbClr val="202124"/>
                </a:solidFill>
                <a:latin typeface="Arial"/>
              </a:defRPr>
            </a:pPr>
            <a:r>
              <a:t>Team Leader:  </a:t>
            </a:r>
            <a:r>
              <a:rPr b="1">
                <a:solidFill>
                  <a:srgbClr val="202124"/>
                </a:solidFill>
              </a:rPr>
              <a:t>Ramakrishna Kancherla</a:t>
            </a:r>
          </a:p>
          <a:p>
            <a:pPr>
              <a:spcBef>
                <a:spcPts val="800"/>
              </a:spcBef>
              <a:defRPr sz="1700" b="1">
                <a:solidFill>
                  <a:srgbClr val="202124"/>
                </a:solidFill>
                <a:latin typeface="Arial"/>
              </a:defRPr>
            </a:pPr>
            <a:r>
              <a:t>Problem Statement:  </a:t>
            </a:r>
            <a:r>
              <a:rPr b="0">
                <a:solidFill>
                  <a:srgbClr val="5F6368"/>
                </a:solidFill>
              </a:rPr>
              <a:t>Autonomous Micro-Grid Community Energy Trading &amp; Resiliency Agent (Decentralized peer-to-peer energy trading and dynamic load shedding powered by Google Gemini 3.5 Flash Lite to safeguard critical community loads during grid blackouts).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3025"/>
                </a:solidFill>
                <a:latin typeface="Arial"/>
              </a:defRPr>
            </a:pPr>
            <a:r>
              <a:t>1. The Growing Crisis</a:t>
            </a:r>
          </a:p>
          <a:p>
            <a:pPr>
              <a:spcBef>
                <a:spcPts val="1200"/>
              </a:spcBef>
              <a:defRPr sz="1300">
                <a:solidFill>
                  <a:srgbClr val="202124"/>
                </a:solidFill>
                <a:latin typeface="Arial"/>
              </a:defRPr>
            </a:pPr>
            <a:r>
              <a:t>• Climate-driven extreme weather events (storms, cyclones, heatwaves) repeatedly collapse centralized utility grids.</a:t>
            </a:r>
            <a:br/>
            <a:br/>
            <a:r>
              <a:t>• Prolonged outages disconnect life-saving facilities like medical clinics and eldercare.</a:t>
            </a:r>
            <a:br/>
            <a:br/>
            <a:r>
              <a:t>• While rooftop solar and home batteries are rapidly growing, they remain isolated, uncoordinated silos unable to help neighbors.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73E8"/>
                </a:solidFill>
                <a:latin typeface="Arial"/>
              </a:defRPr>
            </a:pPr>
            <a:r>
              <a:t>2. Autonomous Micro-Grid</a:t>
            </a:r>
          </a:p>
          <a:p>
            <a:pPr>
              <a:spcBef>
                <a:spcPts val="1200"/>
              </a:spcBef>
              <a:defRPr sz="1300">
                <a:solidFill>
                  <a:srgbClr val="202124"/>
                </a:solidFill>
                <a:latin typeface="Arial"/>
              </a:defRPr>
            </a:pPr>
            <a:r>
              <a:t>• Each household operates an autonomous AI agent powered by Google Gemini 3.5 Flash Lite.</a:t>
            </a:r>
            <a:br/>
            <a:br/>
            <a:r>
              <a:t>• Agents evaluate local solar generation, consumption, and battery state of charge (SOC) to submit structured demand response bids.</a:t>
            </a:r>
            <a:br/>
            <a:br/>
            <a:r>
              <a:t>• A deterministic Community Coordinator clears P2P energy trades with zero energy loss and strict physical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9D58"/>
                </a:solidFill>
                <a:latin typeface="Arial"/>
              </a:defRPr>
            </a:pPr>
            <a:r>
              <a:t>3. Resiliency by Design</a:t>
            </a:r>
          </a:p>
          <a:p>
            <a:pPr>
              <a:spcBef>
                <a:spcPts val="1200"/>
              </a:spcBef>
              <a:defRPr sz="1300">
                <a:solidFill>
                  <a:srgbClr val="202124"/>
                </a:solidFill>
                <a:latin typeface="Arial"/>
              </a:defRPr>
            </a:pPr>
            <a:r>
              <a:t>• Instant Islanding: Decouples locally during main grid outages to preserve neighborhood power.</a:t>
            </a:r>
            <a:br/>
            <a:br/>
            <a:r>
              <a:t>• Dynamic Load Shedding: Non-essential loads (EVs, dishwashers) yield to critical loads (medical clinic refrigeration).</a:t>
            </a:r>
            <a:br/>
            <a:br/>
            <a:r>
              <a:t>• 100% Physics Integrity: Mathematical guarantees prevent hallucinated energy or battery damage.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1554480"/>
            <a:ext cx="11091672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73E8"/>
                </a:solidFill>
                <a:latin typeface="Arial"/>
              </a:defRPr>
            </a:pPr>
            <a:r>
              <a:t>How is it different from existing ideas?</a:t>
            </a:r>
          </a:p>
          <a:p>
            <a:pPr>
              <a:spcBef>
                <a:spcPts val="1000"/>
              </a:spcBef>
              <a:defRPr sz="1300">
                <a:solidFill>
                  <a:srgbClr val="202124"/>
                </a:solidFill>
                <a:latin typeface="Arial"/>
              </a:defRPr>
            </a:pPr>
            <a:r>
              <a:t>• Traditional SCADA / Centralized Grids:</a:t>
            </a:r>
            <a:br/>
            <a:r>
              <a:t>Rely on rigid single-point controllers that freeze when communications fail during storms.</a:t>
            </a:r>
            <a:br/>
            <a:br/>
            <a:r>
              <a:t>• Manual Human Intervention:</a:t>
            </a:r>
            <a:br/>
            <a:r>
              <a:t>Too slow to balance 15-minute intermittent solar swings.</a:t>
            </a:r>
            <a:br/>
            <a:br/>
            <a:r>
              <a:t>• Our Agentic Innovation:</a:t>
            </a:r>
            <a:br/>
            <a:r>
              <a:t>Decentralized peer-to-peer negotiation. Homes maintain self-determination over battery comfort while cooperating for collective community resilience.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474720" cy="46634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9D58"/>
                </a:solidFill>
                <a:latin typeface="Arial"/>
              </a:defRPr>
            </a:pPr>
            <a:r>
              <a:t>How does it solve the problem?</a:t>
            </a:r>
          </a:p>
          <a:p>
            <a:pPr>
              <a:spcBef>
                <a:spcPts val="1000"/>
              </a:spcBef>
              <a:defRPr sz="1300">
                <a:solidFill>
                  <a:srgbClr val="202124"/>
                </a:solidFill>
                <a:latin typeface="Arial"/>
              </a:defRPr>
            </a:pPr>
            <a:r>
              <a:t>• 15-Minute Dynamic Dispatch:</a:t>
            </a:r>
            <a:br/>
            <a:r>
              <a:t>Continuously balances generation and demand before blackouts occur.</a:t>
            </a:r>
            <a:br/>
            <a:br/>
            <a:r>
              <a:t>• Multi-Tier Demand Response:</a:t>
            </a:r>
            <a:br/>
            <a:r>
              <a:t>Automatically prioritizes critical circuits (medical equipment, lighting) over flexible high-drain devices.</a:t>
            </a:r>
            <a:br/>
            <a:br/>
            <a:r>
              <a:t>• Islanded Micro-Grid Operation:</a:t>
            </a:r>
            <a:br/>
            <a:r>
              <a:t>Eliminates single points of failure by keeping the community powered independently when utility lines go 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3474720" cy="46634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142F4"/>
                </a:solidFill>
                <a:latin typeface="Arial"/>
              </a:defRPr>
            </a:pPr>
            <a:r>
              <a:t>USP of the Proposed Solution</a:t>
            </a:r>
          </a:p>
          <a:p>
            <a:pPr>
              <a:spcBef>
                <a:spcPts val="1000"/>
              </a:spcBef>
              <a:defRPr sz="1300">
                <a:solidFill>
                  <a:srgbClr val="202124"/>
                </a:solidFill>
                <a:latin typeface="Arial"/>
              </a:defRPr>
            </a:pPr>
            <a:r>
              <a:t>★ 'AI Negotiation with Guaranteed Physics'</a:t>
            </a:r>
            <a:br/>
            <a:br/>
            <a:r>
              <a:t>• Subjective Human Bidding:</a:t>
            </a:r>
            <a:br/>
            <a:r>
              <a:t>Gemini agents understand nuanced household needs, comfort, and weather context.</a:t>
            </a:r>
            <a:br/>
            <a:br/>
            <a:r>
              <a:t>• Objective Physical Law:</a:t>
            </a:r>
            <a:br/>
            <a:r>
              <a:t>A deterministic coordinator strictly enforces battery C-rates, capacity bounds, and zero-loss trade conservation.</a:t>
            </a:r>
            <a:br/>
            <a:br/>
            <a:r>
              <a:t>• Zero Hallucination Risk:</a:t>
            </a:r>
            <a:br/>
            <a:r>
              <a:t>AI cannot invent energy or over-drain batteries.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5212080" cy="1371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73E8"/>
                </a:solidFill>
                <a:latin typeface="Arial"/>
              </a:defRPr>
            </a:pPr>
            <a:r>
              <a:t>1. Autonomous Gemini Agents</a:t>
            </a:r>
          </a:p>
          <a:p>
            <a:pPr>
              <a:spcBef>
                <a:spcPts val="400"/>
              </a:spcBef>
              <a:defRPr sz="1200">
                <a:solidFill>
                  <a:srgbClr val="202124"/>
                </a:solidFill>
                <a:latin typeface="Arial"/>
              </a:defRPr>
            </a:pPr>
            <a:r>
              <a:t>Each household operates an autonomous agent powered by Gemini 3.5 Flash Lite submitting structured bids with natural-language rationale.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1371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73E8"/>
                </a:solidFill>
                <a:latin typeface="Arial"/>
              </a:defRPr>
            </a:pPr>
            <a:r>
              <a:t>2. Instant Micro-Grid Islanding</a:t>
            </a:r>
          </a:p>
          <a:p>
            <a:pPr>
              <a:spcBef>
                <a:spcPts val="400"/>
              </a:spcBef>
              <a:defRPr sz="1200">
                <a:solidFill>
                  <a:srgbClr val="202124"/>
                </a:solidFill>
                <a:latin typeface="Arial"/>
              </a:defRPr>
            </a:pPr>
            <a:r>
              <a:t>Automatically senses grid loss and islanding occurs in seconds to maintain community power without utility dependence.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212080" cy="1371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73E8"/>
                </a:solidFill>
                <a:latin typeface="Arial"/>
              </a:defRPr>
            </a:pPr>
            <a:r>
              <a:t>3. Dynamic 3-Tier Load Shedding</a:t>
            </a:r>
          </a:p>
          <a:p>
            <a:pPr>
              <a:spcBef>
                <a:spcPts val="400"/>
              </a:spcBef>
              <a:defRPr sz="1200">
                <a:solidFill>
                  <a:srgbClr val="202124"/>
                </a:solidFill>
                <a:latin typeface="Arial"/>
              </a:defRPr>
            </a:pPr>
            <a:r>
              <a:t>Multi-stage demand response: Full (100%), Essential (60%), and Critical (30%) shedding flexible loads to protect essentials.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212080" cy="1371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375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73E8"/>
                </a:solidFill>
                <a:latin typeface="Arial"/>
              </a:defRPr>
            </a:pPr>
            <a:r>
              <a:t>4. P2P Energy Trading Engine</a:t>
            </a:r>
          </a:p>
          <a:p>
            <a:pPr>
              <a:spcBef>
                <a:spcPts val="400"/>
              </a:spcBef>
              <a:defRPr sz="1200">
                <a:solidFill>
                  <a:srgbClr val="202124"/>
                </a:solidFill>
                <a:latin typeface="Arial"/>
              </a:defRPr>
            </a:pPr>
            <a:r>
              <a:t>Bilateral matching algorithm that transfers excess solar and stored battery power directly from producers to deficit homes.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73E8"/>
                </a:solidFill>
                <a:latin typeface="Arial"/>
              </a:defRPr>
            </a:pPr>
            <a:r>
              <a:t>5. Live Digital Twin Dashboard</a:t>
            </a:r>
          </a:p>
          <a:p>
            <a:pPr>
              <a:spcBef>
                <a:spcPts val="400"/>
              </a:spcBef>
              <a:defRPr sz="1200">
                <a:solidFill>
                  <a:srgbClr val="202124"/>
                </a:solidFill>
                <a:latin typeface="Arial"/>
              </a:defRPr>
            </a:pPr>
            <a:r>
              <a:t>Interactive React 19 UI displaying live neighborhood topology, energy links, battery SOC, and active power states.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754880"/>
            <a:ext cx="5212080" cy="13716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8920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73E8"/>
                </a:solidFill>
                <a:latin typeface="Arial"/>
              </a:defRPr>
            </a:pPr>
            <a:r>
              <a:t>6. Auditable Negotiation Console</a:t>
            </a:r>
          </a:p>
          <a:p>
            <a:pPr>
              <a:spcBef>
                <a:spcPts val="400"/>
              </a:spcBef>
              <a:defRPr sz="1200">
                <a:solidFill>
                  <a:srgbClr val="202124"/>
                </a:solidFill>
                <a:latin typeface="Arial"/>
              </a:defRPr>
            </a:pPr>
            <a:r>
              <a:t>Transparent chronological ledger with inspectable JSON payloads showing the exact Gemini reasoning behind every bid.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2011680"/>
            <a:ext cx="2011680" cy="3840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Arial"/>
              </a:defRPr>
            </a:pPr>
            <a:r>
              <a:t>Step 1</a:t>
            </a:r>
          </a:p>
          <a:p>
            <a:pPr>
              <a:defRPr sz="1500" b="1">
                <a:solidFill>
                  <a:srgbClr val="202124"/>
                </a:solidFill>
                <a:latin typeface="Arial"/>
              </a:defRPr>
            </a:pPr>
            <a:r>
              <a:t>Disruption Detected</a:t>
            </a:r>
          </a:p>
          <a:p>
            <a:pPr>
              <a:spcBef>
                <a:spcPts val="12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Normal / Storm (75% solar drop) / Outage blackout triggers dispatch 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2011680"/>
            <a:ext cx="2011680" cy="3840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4952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142F4"/>
                </a:solidFill>
                <a:latin typeface="Arial"/>
              </a:defRPr>
            </a:pPr>
            <a:r>
              <a:t>Step 2</a:t>
            </a:r>
          </a:p>
          <a:p>
            <a:pPr>
              <a:defRPr sz="1500" b="1">
                <a:solidFill>
                  <a:srgbClr val="202124"/>
                </a:solidFill>
                <a:latin typeface="Arial"/>
              </a:defRPr>
            </a:pPr>
            <a:r>
              <a:t>Gemini Agent Inference</a:t>
            </a:r>
          </a:p>
          <a:p>
            <a:pPr>
              <a:spcBef>
                <a:spcPts val="12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4 concurrent agents evaluate solar deficit, load tiers, and battery reserves.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2011680"/>
            <a:ext cx="2011680" cy="3840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1224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9D58"/>
                </a:solidFill>
                <a:latin typeface="Arial"/>
              </a:defRPr>
            </a:pPr>
            <a:r>
              <a:t>Step 3</a:t>
            </a:r>
          </a:p>
          <a:p>
            <a:pPr>
              <a:defRPr sz="1500" b="1">
                <a:solidFill>
                  <a:srgbClr val="202124"/>
                </a:solidFill>
                <a:latin typeface="Arial"/>
              </a:defRPr>
            </a:pPr>
            <a:r>
              <a:t>Structured Bidding</a:t>
            </a:r>
          </a:p>
          <a:p>
            <a:pPr>
              <a:spcBef>
                <a:spcPts val="12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Submits Pydantic schema bids: preferred load tier, reserve %, and export limit.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2011680"/>
            <a:ext cx="2011680" cy="3840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97496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02124"/>
                </a:solidFill>
                <a:latin typeface="Arial"/>
              </a:defRPr>
            </a:pPr>
            <a:r>
              <a:t>Step 4</a:t>
            </a:r>
          </a:p>
          <a:p>
            <a:pPr>
              <a:defRPr sz="1500" b="1">
                <a:solidFill>
                  <a:srgbClr val="202124"/>
                </a:solidFill>
                <a:latin typeface="Arial"/>
              </a:defRPr>
            </a:pPr>
            <a:r>
              <a:t>Physical Coordination</a:t>
            </a:r>
          </a:p>
          <a:p>
            <a:pPr>
              <a:spcBef>
                <a:spcPts val="12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Coordinator enforces energy balance, pairs P2P trades, and dispatches batteries.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2011680"/>
            <a:ext cx="2011680" cy="3840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73768" y="2194560"/>
            <a:ext cx="1737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Arial"/>
              </a:defRPr>
            </a:pPr>
            <a:r>
              <a:t>Step 5</a:t>
            </a:r>
          </a:p>
          <a:p>
            <a:pPr>
              <a:defRPr sz="1500" b="1">
                <a:solidFill>
                  <a:srgbClr val="202124"/>
                </a:solidFill>
                <a:latin typeface="Arial"/>
              </a:defRPr>
            </a:pPr>
            <a:r>
              <a:t>State &amp; Digital Twin</a:t>
            </a:r>
          </a:p>
          <a:p>
            <a:pPr>
              <a:spcBef>
                <a:spcPts val="12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Atomic commit to Firestore; live React UI visualizes power links &amp; logs in &lt;2.3s.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73E8"/>
                </a:solidFill>
                <a:latin typeface="Arial"/>
              </a:defRPr>
            </a:pPr>
            <a:r>
              <a:t>Dashboard UI Architecture</a:t>
            </a:r>
          </a:p>
          <a:p>
            <a:pPr>
              <a:spcBef>
                <a:spcPts val="1000"/>
              </a:spcBef>
              <a:defRPr sz="1300">
                <a:solidFill>
                  <a:srgbClr val="202124"/>
                </a:solidFill>
              </a:defRPr>
            </a:pPr>
            <a:r>
              <a:t>• Aggregate Telemetry Strip:</a:t>
            </a:r>
            <a:br/>
            <a:r>
              <a:t>  Displays real-time Solar Generation (kW), Community Demand (kW), Stored Battery Energy (kWh), and Unserved Energy (0.00 kWh).</a:t>
            </a:r>
            <a:br/>
            <a:br/>
            <a:r>
              <a:t>• Neighborhood Network Map:</a:t>
            </a:r>
            <a:br/>
            <a:r>
              <a:t>  Dynamic SVG topology showing links between households (Solar Haven, Family Home, Garden Cottage, Community Clinic) and the central coordinator.</a:t>
            </a:r>
            <a:br/>
            <a:br/>
            <a:r>
              <a:t>• Real-time Status Badges:</a:t>
            </a:r>
            <a:br/>
            <a:r>
              <a:t>  Color-coded states: Balanced, Exporting, Importing, and Shedding.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9D58"/>
                </a:solidFill>
                <a:latin typeface="Arial"/>
              </a:defRPr>
            </a:pPr>
            <a:r>
              <a:t>Resiliency Lab &amp; Agent Console</a:t>
            </a:r>
          </a:p>
          <a:p>
            <a:pPr>
              <a:spcBef>
                <a:spcPts val="1000"/>
              </a:spcBef>
              <a:defRPr sz="1300">
                <a:solidFill>
                  <a:srgbClr val="202124"/>
                </a:solidFill>
              </a:defRPr>
            </a:pPr>
            <a:r>
              <a:t>• Resiliency Lab Interactive Controls:</a:t>
            </a:r>
            <a:br/>
            <a:r>
              <a:t>  One-click disaster simulations: 'Simulate storm' (75% solar drop), 'Simulate grid outage' (islanded blackout), and 'Reset community'.</a:t>
            </a:r>
            <a:br/>
            <a:br/>
            <a:r>
              <a:t>• Inspectable Agent Console:</a:t>
            </a:r>
            <a:br/>
            <a:r>
              <a:t>  Chronological stream of household bidding decisions tagged with purple [gemini] badges.</a:t>
            </a:r>
            <a:br/>
            <a:br/>
            <a:r>
              <a:t>• Audit Ledger:</a:t>
            </a:r>
            <a:br/>
            <a:r>
              <a:t>  Expandable JSON payload tree showing physical energy balance, load tiers, and exact LLM justifications for full transparent oversight.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73E8"/>
                </a:solidFill>
                <a:latin typeface="Arial"/>
              </a:defRPr>
            </a:pPr>
            <a:r>
              <a:t>Client Tier</a:t>
            </a:r>
          </a:p>
          <a:p>
            <a:pPr>
              <a:spcBef>
                <a:spcPts val="1200"/>
              </a:spcBef>
              <a:defRPr sz="1300">
                <a:solidFill>
                  <a:srgbClr val="202124"/>
                </a:solidFill>
                <a:latin typeface="Arial"/>
              </a:defRPr>
            </a:pPr>
            <a:r>
              <a:t>React 19 + Vite SPA</a:t>
            </a:r>
            <a:br/>
            <a:br/>
            <a:r>
              <a:t>• Topological SVG visualizer</a:t>
            </a:r>
            <a:br/>
            <a:r>
              <a:t>• Live polling state updates</a:t>
            </a:r>
            <a:br/>
            <a:r>
              <a:t>• Served via Cloud Run (Nginx)</a:t>
            </a:r>
            <a:br/>
            <a:r>
              <a:t>• Fully responsive dark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65576" y="1645920"/>
            <a:ext cx="251460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2736" y="182880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Compute Tier</a:t>
            </a:r>
          </a:p>
          <a:p>
            <a:pPr>
              <a:spcBef>
                <a:spcPts val="1200"/>
              </a:spcBef>
              <a:defRPr sz="1300">
                <a:solidFill>
                  <a:srgbClr val="202124"/>
                </a:solidFill>
                <a:latin typeface="Arial"/>
              </a:defRPr>
            </a:pPr>
            <a:r>
              <a:t>Google Cloud Run</a:t>
            </a:r>
            <a:br/>
            <a:br/>
            <a:r>
              <a:t>• FastAPI ASGI microservice</a:t>
            </a:r>
            <a:br/>
            <a:r>
              <a:t>• Asynchronous concurrent workers</a:t>
            </a:r>
            <a:br/>
            <a:r>
              <a:t>• Pydantic v2 strict models</a:t>
            </a:r>
            <a:br/>
            <a:r>
              <a:t>• Auto-scales 0 to 3 instances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45920"/>
            <a:ext cx="251460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82880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142F4"/>
                </a:solidFill>
                <a:latin typeface="Arial"/>
              </a:defRPr>
            </a:pPr>
            <a:r>
              <a:t>AI Intelligence</a:t>
            </a:r>
          </a:p>
          <a:p>
            <a:pPr>
              <a:spcBef>
                <a:spcPts val="1200"/>
              </a:spcBef>
              <a:defRPr sz="1300">
                <a:solidFill>
                  <a:srgbClr val="202124"/>
                </a:solidFill>
                <a:latin typeface="Arial"/>
              </a:defRPr>
            </a:pPr>
            <a:r>
              <a:t>Vertex AI &amp; Gemini</a:t>
            </a:r>
            <a:br/>
            <a:br/>
            <a:r>
              <a:t>• Gemini 3.5 Flash Lite</a:t>
            </a:r>
            <a:br/>
            <a:r>
              <a:t>• Structured JSON Schema</a:t>
            </a:r>
            <a:br/>
            <a:r>
              <a:t>• Sub-2.3s concurrent bidding</a:t>
            </a:r>
            <a:br/>
            <a:r>
              <a:t>• Graceful fallback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1645920"/>
            <a:ext cx="251460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0848" y="182880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9D58"/>
                </a:solidFill>
                <a:latin typeface="Arial"/>
              </a:defRPr>
            </a:pPr>
            <a:r>
              <a:t>Data &amp; Security</a:t>
            </a:r>
          </a:p>
          <a:p>
            <a:pPr>
              <a:spcBef>
                <a:spcPts val="1200"/>
              </a:spcBef>
              <a:defRPr sz="1300">
                <a:solidFill>
                  <a:srgbClr val="202124"/>
                </a:solidFill>
                <a:latin typeface="Arial"/>
              </a:defRPr>
            </a:pPr>
            <a:r>
              <a:t>Firestore &amp; Secrets</a:t>
            </a:r>
            <a:br/>
            <a:br/>
            <a:r>
              <a:t>• Cloud Firestore (Native)</a:t>
            </a:r>
            <a:br/>
            <a:r>
              <a:t>• Atomic revision transactions</a:t>
            </a:r>
            <a:br/>
            <a:r>
              <a:t>• Secret Manager encryption</a:t>
            </a:r>
            <a:br/>
            <a:r>
              <a:t>• Artifact Registry container store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142F4"/>
                </a:solidFill>
                <a:latin typeface="Arial"/>
              </a:defRPr>
            </a:pPr>
            <a:r>
              <a:t>AI &amp; LLM</a:t>
            </a:r>
          </a:p>
          <a:p>
            <a:pPr>
              <a:spcBef>
                <a:spcPts val="1000"/>
              </a:spcBef>
              <a:defRPr b="1" sz="1200">
                <a:solidFill>
                  <a:srgbClr val="202124"/>
                </a:solidFill>
              </a:defRPr>
            </a:pPr>
            <a:r>
              <a:t>• Google Gemini 3.5 Flash Lite: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State-of-the-art reasoning model for ultra-low latency &amp; cost.</a:t>
            </a:r>
          </a:p>
          <a:p>
            <a:pPr>
              <a:spcBef>
                <a:spcPts val="1000"/>
              </a:spcBef>
              <a:defRPr b="1" sz="1200">
                <a:solidFill>
                  <a:srgbClr val="202124"/>
                </a:solidFill>
              </a:defRPr>
            </a:pPr>
            <a:r>
              <a:t>• Google GenAI SDK / Vertex AI: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Async model calls with strict Pydantic JSON response schema.</a:t>
            </a:r>
          </a:p>
          <a:p>
            <a:pPr>
              <a:spcBef>
                <a:spcPts val="1000"/>
              </a:spcBef>
              <a:defRPr b="1" sz="1200">
                <a:solidFill>
                  <a:srgbClr val="202124"/>
                </a:solidFill>
              </a:defRPr>
            </a:pPr>
            <a:r>
              <a:t>• Deterministic Coordinator: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Physics enforcement layer preventing hallucination.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65576" y="1645920"/>
            <a:ext cx="251460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2736" y="182880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A73E8"/>
                </a:solidFill>
                <a:latin typeface="Arial"/>
              </a:defRPr>
            </a:pPr>
            <a:r>
              <a:t>Backend &amp; API</a:t>
            </a:r>
          </a:p>
          <a:p>
            <a:pPr>
              <a:spcBef>
                <a:spcPts val="1000"/>
              </a:spcBef>
              <a:defRPr b="1" sz="1200">
                <a:solidFill>
                  <a:srgbClr val="202124"/>
                </a:solidFill>
              </a:defRPr>
            </a:pPr>
            <a:r>
              <a:t>• Python 3.12 &amp; FastAPI: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Modern asynchronous web framework with native async/await.</a:t>
            </a:r>
          </a:p>
          <a:p>
            <a:pPr>
              <a:spcBef>
                <a:spcPts val="1000"/>
              </a:spcBef>
              <a:defRPr b="1" sz="1200">
                <a:solidFill>
                  <a:srgbClr val="202124"/>
                </a:solidFill>
              </a:defRPr>
            </a:pPr>
            <a:r>
              <a:t>• Pydantic v2: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Strict schema validation and data integrity parsing.</a:t>
            </a:r>
          </a:p>
          <a:p>
            <a:pPr>
              <a:spcBef>
                <a:spcPts val="1000"/>
              </a:spcBef>
              <a:defRPr b="1" sz="1200">
                <a:solidFill>
                  <a:srgbClr val="202124"/>
                </a:solidFill>
              </a:defRPr>
            </a:pPr>
            <a:r>
              <a:t>• Uvicorn: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High-performance ASGI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45920"/>
            <a:ext cx="251460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82880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9D58"/>
                </a:solidFill>
                <a:latin typeface="Arial"/>
              </a:defRPr>
            </a:pPr>
            <a:r>
              <a:t>Frontend</a:t>
            </a:r>
          </a:p>
          <a:p>
            <a:pPr>
              <a:spcBef>
                <a:spcPts val="1000"/>
              </a:spcBef>
              <a:defRPr b="1" sz="1200">
                <a:solidFill>
                  <a:srgbClr val="202124"/>
                </a:solidFill>
              </a:defRPr>
            </a:pPr>
            <a:r>
              <a:t>• React 19: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Modern component UI library for reactive state rendering.</a:t>
            </a:r>
          </a:p>
          <a:p>
            <a:pPr>
              <a:spcBef>
                <a:spcPts val="1000"/>
              </a:spcBef>
              <a:defRPr b="1" sz="1200">
                <a:solidFill>
                  <a:srgbClr val="202124"/>
                </a:solidFill>
              </a:defRPr>
            </a:pPr>
            <a:r>
              <a:t>• Vite 8: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Next-gen lightning fast frontend build tooling.</a:t>
            </a:r>
          </a:p>
          <a:p>
            <a:pPr>
              <a:spcBef>
                <a:spcPts val="1000"/>
              </a:spcBef>
              <a:defRPr b="1" sz="1200">
                <a:solidFill>
                  <a:srgbClr val="202124"/>
                </a:solidFill>
              </a:defRPr>
            </a:pPr>
            <a:r>
              <a:t>• Tailwind-style Dark UI: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High-contrast resilient operational aesthetic.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1645920"/>
            <a:ext cx="251460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0848" y="182880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02124"/>
                </a:solidFill>
                <a:latin typeface="Arial"/>
              </a:defRPr>
            </a:pPr>
            <a:r>
              <a:t>GCP Infrastructure</a:t>
            </a:r>
          </a:p>
          <a:p>
            <a:pPr>
              <a:spcBef>
                <a:spcPts val="1000"/>
              </a:spcBef>
              <a:defRPr b="1" sz="1200">
                <a:solidFill>
                  <a:srgbClr val="202124"/>
                </a:solidFill>
              </a:defRPr>
            </a:pPr>
            <a:r>
              <a:t>• Google Cloud Run: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Serverless container hosting with automated HTTPS &amp; scaling.</a:t>
            </a:r>
          </a:p>
          <a:p>
            <a:pPr>
              <a:spcBef>
                <a:spcPts val="1000"/>
              </a:spcBef>
              <a:defRPr b="1" sz="1200">
                <a:solidFill>
                  <a:srgbClr val="202124"/>
                </a:solidFill>
              </a:defRPr>
            </a:pPr>
            <a:r>
              <a:t>• Cloud Firestore: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Atomic distributed NoSQL state and audit ledger.</a:t>
            </a:r>
          </a:p>
          <a:p>
            <a:pPr>
              <a:spcBef>
                <a:spcPts val="1000"/>
              </a:spcBef>
              <a:defRPr b="1" sz="1200">
                <a:solidFill>
                  <a:srgbClr val="202124"/>
                </a:solidFill>
              </a:defRPr>
            </a:pPr>
            <a:r>
              <a:t>• Cloud Build &amp; Artifact Registry:</a:t>
            </a:r>
          </a:p>
          <a:p>
            <a:pPr>
              <a:defRPr sz="1100">
                <a:solidFill>
                  <a:srgbClr val="5F6368"/>
                </a:solidFill>
              </a:defRPr>
            </a:pPr>
            <a:r>
              <a:t>Automated multi-container image CI/CD.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73E8"/>
                </a:solidFill>
                <a:latin typeface="Arial"/>
              </a:defRPr>
            </a:pPr>
            <a:r>
              <a:t>Highly Cost-Optimized Serverless Architecture</a:t>
            </a:r>
          </a:p>
          <a:p>
            <a:pPr>
              <a:spcBef>
                <a:spcPts val="1200"/>
              </a:spcBef>
              <a:defRPr sz="1300">
                <a:solidFill>
                  <a:srgbClr val="202124"/>
                </a:solidFill>
              </a:defRPr>
            </a:pPr>
            <a:r>
              <a:t>1. Google Cloud Run (Frontend &amp; Backend):</a:t>
            </a:r>
            <a:br/>
            <a:r>
              <a:t>   • Free Tier includes 2,000,000 requests/month and 360,000 GB-seconds of compute.</a:t>
            </a:r>
            <a:br/>
            <a:r>
              <a:t>   • Scales to 0 when idle. Total Estimated Cost: $0.00 / month.</a:t>
            </a:r>
            <a:br/>
            <a:br/>
            <a:r>
              <a:t>2. Google Cloud Firestore (Native Datastore):</a:t>
            </a:r>
            <a:br/>
            <a:r>
              <a:t>   • Free Tier includes 1 GB storage, 50,000 reads, and 20,000 writes/day.</a:t>
            </a:r>
            <a:br/>
            <a:r>
              <a:t>   • Entire community revision state fits well within free tier. Total Cost: $0.00 / month.</a:t>
            </a:r>
            <a:br/>
            <a:br/>
            <a:r>
              <a:t>3. Google Gemini 3.5 Flash Lite Inference:</a:t>
            </a:r>
            <a:br/>
            <a:r>
              <a:t>   • Each 15-min household bid consumes ~250 tokens (~1,000 tokens per community dispatch).</a:t>
            </a:r>
            <a:br/>
            <a:r>
              <a:t>   • Running 24/7 continuous dispatches costs less than $0.50/month under standard API rates.</a:t>
            </a:r>
            <a:br/>
            <a:br/>
            <a:r>
              <a:t>4. Total Community Pilot Operational Cost:</a:t>
            </a:r>
            <a:br/>
            <a:r>
              <a:t>   • Less than $1.00 USD / month (Practically 100% Free under Google Cloud Free Tier).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Arial"/>
              </a:defRPr>
            </a:pPr>
            <a:r>
              <a:t>1. Normal Baseline</a:t>
            </a:r>
          </a:p>
        </p:txBody>
      </p:sp>
      <p:pic>
        <p:nvPicPr>
          <p:cNvPr id="5" name="Picture 4" descr="screenshot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840"/>
            <a:ext cx="3108960" cy="14876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2120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F6368"/>
                </a:solidFill>
                <a:latin typeface="Arial"/>
              </a:defRPr>
            </a:pPr>
            <a:r>
              <a:t>14.0 kW Solar | 27.5 kWh Stored</a:t>
            </a:r>
            <a:br/>
            <a:r>
              <a:t>All homes balanced in harmony.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7373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Arial"/>
              </a:defRPr>
            </a:pPr>
            <a:r>
              <a:t>2. Storm Disruption</a:t>
            </a:r>
          </a:p>
        </p:txBody>
      </p:sp>
      <p:pic>
        <p:nvPicPr>
          <p:cNvPr id="9" name="Picture 8" descr="screenshot_st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148840"/>
            <a:ext cx="3108960" cy="14876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0560" y="52120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F6368"/>
                </a:solidFill>
                <a:latin typeface="Arial"/>
              </a:defRPr>
            </a:pPr>
            <a:r>
              <a:t>75% Solar Drop | Load Shedding</a:t>
            </a:r>
            <a:br/>
            <a:r>
              <a:t>Solar Haven balances with battery.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73E8"/>
                </a:solidFill>
                <a:latin typeface="Arial"/>
              </a:defRPr>
            </a:pPr>
            <a:r>
              <a:t>3. Grid Outage Islanding</a:t>
            </a:r>
          </a:p>
        </p:txBody>
      </p:sp>
      <p:pic>
        <p:nvPicPr>
          <p:cNvPr id="13" name="Picture 12" descr="screenshot_out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2148840"/>
            <a:ext cx="3108960" cy="148768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0" y="521208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F6368"/>
                </a:solidFill>
                <a:latin typeface="Arial"/>
              </a:defRPr>
            </a:pPr>
            <a:r>
              <a:t>Islanded P2P Trading | Zero Unserved</a:t>
            </a:r>
            <a:br/>
            <a:r>
              <a:t>Clinic shed to Critical Tier (1.8 kW).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73E8"/>
                </a:solidFill>
                <a:latin typeface="Arial"/>
              </a:defRPr>
            </a:pPr>
            <a:r>
              <a:t>&lt; 2.3s Latency</a:t>
            </a:r>
          </a:p>
          <a:p>
            <a:pPr>
              <a:defRPr sz="1400" b="1">
                <a:solidFill>
                  <a:srgbClr val="202124"/>
                </a:solidFill>
                <a:latin typeface="Arial"/>
              </a:defRPr>
            </a:pPr>
            <a:r>
              <a:t>End-to-End LLM Dispatch</a:t>
            </a:r>
          </a:p>
          <a:p>
            <a:pPr>
              <a:spcBef>
                <a:spcPts val="6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All 4 concurrent Gemini agent inferences and physical clearing complete in under 2.3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2011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9659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9D58"/>
                </a:solidFill>
                <a:latin typeface="Arial"/>
              </a:defRPr>
            </a:pPr>
            <a:r>
              <a:t>100% Physics Integrity</a:t>
            </a:r>
          </a:p>
          <a:p>
            <a:pPr>
              <a:defRPr sz="1400" b="1">
                <a:solidFill>
                  <a:srgbClr val="202124"/>
                </a:solidFill>
                <a:latin typeface="Arial"/>
              </a:defRPr>
            </a:pPr>
            <a:r>
              <a:t>Thermodynamic Balance</a:t>
            </a:r>
          </a:p>
          <a:p>
            <a:pPr>
              <a:spcBef>
                <a:spcPts val="6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Zero unmetered or hallucinated energy. Guaranteed compliance with conservation laws.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142F4"/>
                </a:solidFill>
                <a:latin typeface="Arial"/>
              </a:defRPr>
            </a:pPr>
            <a:r>
              <a:t>0.00 kWh Unserved</a:t>
            </a:r>
          </a:p>
          <a:p>
            <a:pPr>
              <a:defRPr sz="1400" b="1">
                <a:solidFill>
                  <a:srgbClr val="202124"/>
                </a:solidFill>
                <a:latin typeface="Arial"/>
              </a:defRPr>
            </a:pPr>
            <a:r>
              <a:t>Critical Load Protection</a:t>
            </a:r>
          </a:p>
          <a:p>
            <a:pPr>
              <a:spcBef>
                <a:spcPts val="6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Community Clinic medical refrigeration maintained 100% powered during complete blackout.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0116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02124"/>
                </a:solidFill>
                <a:latin typeface="Arial"/>
              </a:defRPr>
            </a:pPr>
            <a:r>
              <a:t>34 / 34 Tests Passed</a:t>
            </a:r>
          </a:p>
          <a:p>
            <a:pPr>
              <a:defRPr sz="1400" b="1">
                <a:solidFill>
                  <a:srgbClr val="202124"/>
                </a:solidFill>
                <a:latin typeface="Arial"/>
              </a:defRPr>
            </a:pPr>
            <a:r>
              <a:t>Full Verification Suite</a:t>
            </a:r>
          </a:p>
          <a:p>
            <a:pPr>
              <a:spcBef>
                <a:spcPts val="600"/>
              </a:spcBef>
              <a:defRPr sz="1200">
                <a:solidFill>
                  <a:srgbClr val="5F6368"/>
                </a:solidFill>
                <a:latin typeface="Arial"/>
              </a:defRPr>
            </a:pPr>
            <a:r>
              <a:t>100% pass rate across API validation, agent schemas, physics bounds, and concurrency.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73E8"/>
                </a:solidFill>
                <a:latin typeface="Arial"/>
              </a:defRPr>
            </a:pPr>
            <a:r>
              <a:t>1. Hardware IoT Gateway Bridge</a:t>
            </a:r>
          </a:p>
          <a:p>
            <a:pPr>
              <a:spcBef>
                <a:spcPts val="300"/>
              </a:spcBef>
              <a:defRPr sz="1200">
                <a:solidFill>
                  <a:srgbClr val="202124"/>
                </a:solidFill>
                <a:latin typeface="Arial"/>
              </a:defRPr>
            </a:pPr>
            <a:r>
              <a:t>Integrate Modbus/MQTT protocols to connect with real-world physical smart inverters (Tesla Powerwall, SolarEdge, Enphase) and smart meters.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9D58"/>
                </a:solidFill>
                <a:latin typeface="Arial"/>
              </a:defRPr>
            </a:pPr>
            <a:r>
              <a:t>2. Satellite Irradiance Modeling</a:t>
            </a:r>
          </a:p>
          <a:p>
            <a:pPr>
              <a:spcBef>
                <a:spcPts val="300"/>
              </a:spcBef>
              <a:defRPr sz="1200">
                <a:solidFill>
                  <a:srgbClr val="202124"/>
                </a:solidFill>
                <a:latin typeface="Arial"/>
              </a:defRPr>
            </a:pPr>
            <a:r>
              <a:t>Ingest real-time satellite irradiance data via Google Earth Engine (ECMWF/ERA5/HOURLY) for predictive pre-storm battery charging.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142F4"/>
                </a:solidFill>
                <a:latin typeface="Arial"/>
              </a:defRPr>
            </a:pPr>
            <a:r>
              <a:t>3. Dynamic P2P Tariff Clearing</a:t>
            </a:r>
          </a:p>
          <a:p>
            <a:pPr>
              <a:spcBef>
                <a:spcPts val="300"/>
              </a:spcBef>
              <a:defRPr sz="1200">
                <a:solidFill>
                  <a:srgbClr val="202124"/>
                </a:solidFill>
                <a:latin typeface="Arial"/>
              </a:defRPr>
            </a:pPr>
            <a:r>
              <a:t>Implement automated peer-to-peer settlement tokens and local micro-tariffs to ensure fair financial compensation between solar sellers and buyers.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02124"/>
                </a:solidFill>
                <a:latin typeface="Arial"/>
              </a:defRPr>
            </a:pPr>
            <a:r>
              <a:t>4. Virtual Power Plant (VPP) Federation</a:t>
            </a:r>
          </a:p>
          <a:p>
            <a:pPr>
              <a:spcBef>
                <a:spcPts val="300"/>
              </a:spcBef>
              <a:defRPr sz="1200">
                <a:solidFill>
                  <a:srgbClr val="202124"/>
                </a:solidFill>
                <a:latin typeface="Arial"/>
              </a:defRPr>
            </a:pPr>
            <a:r>
              <a:t>Aggregate hundreds of local neighborhood micro-grids into a unified Virtual Power Plant fleet for utility-scale grid stabilization.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1463040"/>
            <a:ext cx="11091672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73E8"/>
                </a:solidFill>
                <a:latin typeface="Arial"/>
              </a:defRPr>
            </a:pPr>
            <a:r>
              <a:t>Official Submission Links</a:t>
            </a:r>
          </a:p>
          <a:p>
            <a:pPr>
              <a:spcBef>
                <a:spcPts val="1600"/>
              </a:spcBef>
              <a:defRPr b="1" sz="1600">
                <a:solidFill>
                  <a:srgbClr val="202124"/>
                </a:solidFill>
              </a:defRPr>
            </a:pPr>
            <a:r>
              <a:t>1. GitHub Public Repository:</a:t>
            </a:r>
          </a:p>
          <a:p>
            <a:pPr>
              <a:defRPr sz="1500">
                <a:solidFill>
                  <a:srgbClr val="1A73E8"/>
                </a:solidFill>
              </a:defRPr>
            </a:pPr>
            <a:r>
              <a:t>   👉 https://github.com/Bharathconfig/AI-CUP</a:t>
            </a:r>
          </a:p>
          <a:p>
            <a:pPr>
              <a:spcBef>
                <a:spcPts val="1600"/>
              </a:spcBef>
              <a:defRPr b="1" sz="1600">
                <a:solidFill>
                  <a:srgbClr val="202124"/>
                </a:solidFill>
              </a:defRPr>
            </a:pPr>
            <a:r>
              <a:t>2. Final Product Link (Live Working Prototype on Google Cloud Run):</a:t>
            </a:r>
          </a:p>
          <a:p>
            <a:pPr>
              <a:defRPr sz="1500" b="1">
                <a:solidFill>
                  <a:srgbClr val="0F9D58"/>
                </a:solidFill>
              </a:defRPr>
            </a:pPr>
            <a:r>
              <a:t>   👉 https://micro-grid-dashboard-amwo6hshva-uc.a.run.app</a:t>
            </a:r>
          </a:p>
          <a:p>
            <a:pPr>
              <a:spcBef>
                <a:spcPts val="1600"/>
              </a:spcBef>
              <a:defRPr b="1" sz="1600">
                <a:solidFill>
                  <a:srgbClr val="202124"/>
                </a:solidFill>
              </a:defRPr>
            </a:pPr>
            <a:r>
              <a:t>3. Demo Video Link (3 Minutes):</a:t>
            </a:r>
          </a:p>
          <a:p>
            <a:pPr>
              <a:defRPr sz="1500">
                <a:solidFill>
                  <a:srgbClr val="5F6368"/>
                </a:solidFill>
              </a:defRPr>
            </a:pPr>
            <a:r>
              <a:t>   👉 [Insert your YouTube / Google Drive 3-minute video link here]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73E8"/>
                </a:solidFill>
                <a:latin typeface="Arial"/>
              </a:defRPr>
            </a:pPr>
            <a:r>
              <a:t>Why AutomataForce Micro-Grid Wins</a:t>
            </a:r>
          </a:p>
          <a:p>
            <a:pPr>
              <a:spcBef>
                <a:spcPts val="1200"/>
              </a:spcBef>
              <a:defRPr sz="1400">
                <a:solidFill>
                  <a:srgbClr val="202124"/>
                </a:solidFill>
              </a:defRPr>
            </a:pPr>
            <a:r>
              <a:t>• Real Working Prototype:</a:t>
            </a:r>
            <a:br/>
            <a:r>
              <a:t>  Not a mockup or slide design — deployed live on Google Cloud Run with Google Cloud Firestore.</a:t>
            </a:r>
            <a:br/>
            <a:br/>
            <a:r>
              <a:t>• Deep Google Cloud &amp; Vertex AI Integration:</a:t>
            </a:r>
            <a:br/>
            <a:r>
              <a:t>  Leverages Gemini 3.5 Flash Lite, Vertex AI async APIs, and Google Cloud serverless architecture.</a:t>
            </a:r>
            <a:br/>
            <a:br/>
            <a:r>
              <a:t>• High Real-World Social Impact:</a:t>
            </a:r>
            <a:br/>
            <a:r>
              <a:t>  Protects vulnerable human lives, medical clinics, and critical community energy security during climate disasters.</a:t>
            </a:r>
            <a:br/>
            <a:br/>
            <a:r>
              <a:t>• Rigorous Engineering:</a:t>
            </a:r>
            <a:br/>
            <a:r>
              <a:t>  34 automated unit &amp; integration tests proving zero energy hallucination, sub-2.3s dispatch, and 100% physics reliability.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